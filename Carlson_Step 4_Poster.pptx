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43891200" cy="32918400"/>
  <p:notesSz cx="6858000" cy="9144000"/>
  <p:embeddedFontLst>
    <p:embeddedFont>
      <p:font typeface="Calibri (MS) Bold" panose="020F0702030404030204" pitchFamily="34" charset="0"/>
      <p:regular r:id="rId3"/>
      <p:bold r:id="rId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5C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8732" autoAdjust="0"/>
    <p:restoredTop sz="94574" autoAdjust="0"/>
  </p:normalViewPr>
  <p:slideViewPr>
    <p:cSldViewPr>
      <p:cViewPr>
        <p:scale>
          <a:sx n="31" d="100"/>
          <a:sy n="31" d="100"/>
        </p:scale>
        <p:origin x="1472" y="-4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font" Target="fonts/font1.fntdata"/><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12/11/25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reddit.com/r/pre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9"/>
          <p:cNvSpPr/>
          <p:nvPr/>
        </p:nvSpPr>
        <p:spPr>
          <a:xfrm>
            <a:off x="1078094" y="5539638"/>
            <a:ext cx="13283165" cy="1198597"/>
          </a:xfrm>
          <a:custGeom>
            <a:avLst/>
            <a:gdLst/>
            <a:ahLst/>
            <a:cxnLst/>
            <a:rect l="l" t="t" r="r" b="b"/>
            <a:pathLst>
              <a:path w="12354746" h="1198597">
                <a:moveTo>
                  <a:pt x="0" y="0"/>
                </a:moveTo>
                <a:lnTo>
                  <a:pt x="12354746" y="0"/>
                </a:lnTo>
                <a:lnTo>
                  <a:pt x="12354746" y="1198598"/>
                </a:lnTo>
                <a:lnTo>
                  <a:pt x="0" y="1198598"/>
                </a:lnTo>
                <a:lnTo>
                  <a:pt x="0" y="0"/>
                </a:lnTo>
                <a:close/>
              </a:path>
            </a:pathLst>
          </a:custGeom>
          <a:blipFill>
            <a:blip r:embed="rId2"/>
            <a:stretch>
              <a:fillRect t="-84071" r="-8365" b="-184071"/>
            </a:stretch>
          </a:blipFill>
        </p:spPr>
        <p:txBody>
          <a:bodyPr/>
          <a:lstStyle/>
          <a:p>
            <a:endParaRPr lang="en-US"/>
          </a:p>
        </p:txBody>
      </p:sp>
      <p:grpSp>
        <p:nvGrpSpPr>
          <p:cNvPr id="10" name="Group 10"/>
          <p:cNvGrpSpPr/>
          <p:nvPr/>
        </p:nvGrpSpPr>
        <p:grpSpPr>
          <a:xfrm>
            <a:off x="685800" y="5173191"/>
            <a:ext cx="13284046" cy="1363354"/>
            <a:chOff x="0" y="0"/>
            <a:chExt cx="14643633" cy="1615827"/>
          </a:xfrm>
          <a:solidFill>
            <a:srgbClr val="375C9E"/>
          </a:solidFill>
        </p:grpSpPr>
        <p:sp>
          <p:nvSpPr>
            <p:cNvPr id="11" name="Freeform 11"/>
            <p:cNvSpPr/>
            <p:nvPr/>
          </p:nvSpPr>
          <p:spPr>
            <a:xfrm>
              <a:off x="0" y="0"/>
              <a:ext cx="14643608" cy="1615821"/>
            </a:xfrm>
            <a:custGeom>
              <a:avLst/>
              <a:gdLst/>
              <a:ahLst/>
              <a:cxnLst/>
              <a:rect l="l" t="t" r="r" b="b"/>
              <a:pathLst>
                <a:path w="14643608" h="1615821">
                  <a:moveTo>
                    <a:pt x="0" y="0"/>
                  </a:moveTo>
                  <a:lnTo>
                    <a:pt x="14643608" y="0"/>
                  </a:lnTo>
                  <a:lnTo>
                    <a:pt x="14643608" y="1615821"/>
                  </a:lnTo>
                  <a:lnTo>
                    <a:pt x="0" y="1615821"/>
                  </a:lnTo>
                  <a:close/>
                </a:path>
              </a:pathLst>
            </a:custGeom>
            <a:grpFill/>
          </p:spPr>
          <p:txBody>
            <a:bodyPr/>
            <a:lstStyle/>
            <a:p>
              <a:endParaRPr lang="en-US"/>
            </a:p>
          </p:txBody>
        </p:sp>
        <p:sp>
          <p:nvSpPr>
            <p:cNvPr id="12" name="TextBox 12"/>
            <p:cNvSpPr txBox="1"/>
            <p:nvPr/>
          </p:nvSpPr>
          <p:spPr>
            <a:xfrm>
              <a:off x="0" y="-123825"/>
              <a:ext cx="14643633" cy="1739652"/>
            </a:xfrm>
            <a:prstGeom prst="rect">
              <a:avLst/>
            </a:prstGeom>
            <a:grpFill/>
          </p:spPr>
          <p:txBody>
            <a:bodyPr lIns="57150" tIns="57150" rIns="57150" bIns="57150" rtlCol="0" anchor="ctr"/>
            <a:lstStyle/>
            <a:p>
              <a:pPr algn="ctr">
                <a:lnSpc>
                  <a:spcPts val="7087"/>
                </a:lnSpc>
              </a:pPr>
              <a:r>
                <a:rPr lang="en-US" sz="5906" spc="55" dirty="0">
                  <a:solidFill>
                    <a:schemeClr val="bg1"/>
                  </a:solidFill>
                  <a:latin typeface="Calibri (MS) Bold"/>
                </a:rPr>
                <a:t>Background</a:t>
              </a:r>
            </a:p>
          </p:txBody>
        </p:sp>
      </p:grpSp>
      <p:grpSp>
        <p:nvGrpSpPr>
          <p:cNvPr id="38" name="Group 38"/>
          <p:cNvGrpSpPr/>
          <p:nvPr/>
        </p:nvGrpSpPr>
        <p:grpSpPr>
          <a:xfrm>
            <a:off x="681809" y="7104682"/>
            <a:ext cx="13510532" cy="19228333"/>
            <a:chOff x="0" y="-114300"/>
            <a:chExt cx="14737196" cy="12041152"/>
          </a:xfrm>
        </p:grpSpPr>
        <p:sp>
          <p:nvSpPr>
            <p:cNvPr id="39" name="Freeform 39"/>
            <p:cNvSpPr/>
            <p:nvPr/>
          </p:nvSpPr>
          <p:spPr>
            <a:xfrm>
              <a:off x="0" y="0"/>
              <a:ext cx="14494500" cy="11926823"/>
            </a:xfrm>
            <a:custGeom>
              <a:avLst/>
              <a:gdLst/>
              <a:ahLst/>
              <a:cxnLst/>
              <a:rect l="l" t="t" r="r" b="b"/>
              <a:pathLst>
                <a:path w="14494500" h="11926823">
                  <a:moveTo>
                    <a:pt x="0" y="0"/>
                  </a:moveTo>
                  <a:lnTo>
                    <a:pt x="14494500" y="0"/>
                  </a:lnTo>
                  <a:lnTo>
                    <a:pt x="14494500" y="11926823"/>
                  </a:lnTo>
                  <a:lnTo>
                    <a:pt x="0" y="11926823"/>
                  </a:lnTo>
                  <a:close/>
                </a:path>
              </a:pathLst>
            </a:custGeom>
            <a:solidFill>
              <a:srgbClr val="FFFFFF"/>
            </a:solidFill>
          </p:spPr>
          <p:txBody>
            <a:bodyPr/>
            <a:lstStyle/>
            <a:p>
              <a:endParaRPr lang="en-US"/>
            </a:p>
          </p:txBody>
        </p:sp>
        <p:sp>
          <p:nvSpPr>
            <p:cNvPr id="40" name="TextBox 40"/>
            <p:cNvSpPr txBox="1"/>
            <p:nvPr/>
          </p:nvSpPr>
          <p:spPr>
            <a:xfrm>
              <a:off x="0" y="-114300"/>
              <a:ext cx="14737196" cy="12041152"/>
            </a:xfrm>
            <a:prstGeom prst="rect">
              <a:avLst/>
            </a:prstGeom>
          </p:spPr>
          <p:txBody>
            <a:bodyPr lIns="57150" tIns="57150" rIns="57150" bIns="57150" rtlCol="0" anchor="t"/>
            <a:lstStyle/>
            <a:p>
              <a:pPr marL="685800" indent="-685800" algn="just">
                <a:buFont typeface="Arial" panose="020B0604020202020204" pitchFamily="34" charset="0"/>
                <a:buChar char="•"/>
              </a:pPr>
              <a:r>
                <a:rPr lang="en-US" sz="4500" dirty="0"/>
                <a:t>A major barrier to pre-exposure prophylaxis (PrEP) uptake and persistence in the US is the </a:t>
              </a:r>
              <a:r>
                <a:rPr lang="en-US" sz="4500" i="1" dirty="0"/>
                <a:t>uncertainty</a:t>
              </a:r>
              <a:r>
                <a:rPr lang="en-US" sz="4500" dirty="0"/>
                <a:t> regarding PrEP (e.g., uncertainties regarding costs, side effects, details of the drug regimen), among the public, many of whom turn to the Internet for information about it. Thus, their online posts and discussions provide insights into the public’s knowledge gaps regarding PrEP. </a:t>
              </a:r>
            </a:p>
            <a:p>
              <a:pPr marL="685800" indent="-685800" algn="just">
                <a:buFont typeface="Arial" panose="020B0604020202020204" pitchFamily="34" charset="0"/>
                <a:buChar char="•"/>
              </a:pPr>
              <a:r>
                <a:rPr lang="en-US" sz="4500" dirty="0"/>
                <a:t>To identify those gaps, we conduct an innovative, community-driven natural language processing (NLP) analysis guided by the co-creating knowledge translation framework.</a:t>
              </a:r>
            </a:p>
            <a:p>
              <a:pPr marL="685800" indent="-685800" algn="just">
                <a:buFont typeface="Arial" panose="020B0604020202020204" pitchFamily="34" charset="0"/>
                <a:buChar char="•"/>
              </a:pPr>
              <a:r>
                <a:rPr lang="en-US" sz="4500" dirty="0"/>
                <a:t>Our objective is to examine five years of data from Reddit and Google (2019-2024) and a) assess the public’s knowledge gaps as well as the barriers and facilitators to PrEP uptake and persistence at the population level, and b) compare the results of the community-driven NLP analysis with the CDC 2021 PrEP Clinical Practice Guidelines to identify consistencies and discrepancies between the language laypeople use when discussing PrEP and the information they seek versus the information provided in the guidelines. </a:t>
              </a:r>
            </a:p>
            <a:p>
              <a:pPr marL="685800" indent="-685800" algn="just">
                <a:buFont typeface="Arial" panose="020B0604020202020204" pitchFamily="34" charset="0"/>
                <a:buChar char="•"/>
              </a:pPr>
              <a:r>
                <a:rPr lang="en-US" sz="4500" i="1" dirty="0"/>
                <a:t>As a first step, </a:t>
              </a:r>
              <a:r>
                <a:rPr lang="en-US" sz="4500" dirty="0"/>
                <a:t>in this analysis, we examine the PrEP-related language in a subset of Reddit data (r/prep) and compare it to the CDC PrEP guidelines. Our research question: What terminology does the public use to refer to PrEP? What jargon and synonyms do people use for PrEP?  </a:t>
              </a:r>
            </a:p>
          </p:txBody>
        </p:sp>
      </p:grpSp>
      <p:pic>
        <p:nvPicPr>
          <p:cNvPr id="42" name="Picture 4" descr="Emory University Rollins School of Public Health - Idealist">
            <a:extLst>
              <a:ext uri="{FF2B5EF4-FFF2-40B4-BE49-F238E27FC236}">
                <a16:creationId xmlns:a16="http://schemas.microsoft.com/office/drawing/2014/main" id="{1FC1BF79-3BD4-3732-F105-0F15E672A0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725" y="28419636"/>
            <a:ext cx="5289420" cy="3710838"/>
          </a:xfrm>
          <a:prstGeom prst="rect">
            <a:avLst/>
          </a:prstGeom>
          <a:noFill/>
          <a:extLst>
            <a:ext uri="{909E8E84-426E-40DD-AFC4-6F175D3DCCD1}">
              <a14:hiddenFill xmlns:a14="http://schemas.microsoft.com/office/drawing/2010/main">
                <a:solidFill>
                  <a:srgbClr val="FFFFFF"/>
                </a:solidFill>
              </a14:hiddenFill>
            </a:ext>
          </a:extLst>
        </p:spPr>
      </p:pic>
      <p:sp>
        <p:nvSpPr>
          <p:cNvPr id="43" name="Rectangle 42">
            <a:extLst>
              <a:ext uri="{FF2B5EF4-FFF2-40B4-BE49-F238E27FC236}">
                <a16:creationId xmlns:a16="http://schemas.microsoft.com/office/drawing/2014/main" id="{687A604B-5FD1-D99C-27B9-469F5F4C2E3D}"/>
              </a:ext>
            </a:extLst>
          </p:cNvPr>
          <p:cNvSpPr/>
          <p:nvPr/>
        </p:nvSpPr>
        <p:spPr>
          <a:xfrm>
            <a:off x="685800" y="750830"/>
            <a:ext cx="42443400" cy="3668770"/>
          </a:xfrm>
          <a:prstGeom prst="rect">
            <a:avLst/>
          </a:prstGeom>
          <a:solidFill>
            <a:srgbClr val="375C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0CA4E46D-1610-EEC3-65BB-C0FB7E68B9F3}"/>
              </a:ext>
            </a:extLst>
          </p:cNvPr>
          <p:cNvSpPr txBox="1"/>
          <p:nvPr/>
        </p:nvSpPr>
        <p:spPr>
          <a:xfrm>
            <a:off x="1400520" y="1328505"/>
            <a:ext cx="40890480" cy="1502976"/>
          </a:xfrm>
          <a:prstGeom prst="rect">
            <a:avLst/>
          </a:prstGeom>
          <a:noFill/>
        </p:spPr>
        <p:txBody>
          <a:bodyPr wrap="square" rtlCol="0">
            <a:spAutoFit/>
          </a:bodyPr>
          <a:lstStyle/>
          <a:p>
            <a:pPr>
              <a:lnSpc>
                <a:spcPts val="11000"/>
              </a:lnSpc>
            </a:pPr>
            <a:r>
              <a:rPr lang="en-US" sz="10000" dirty="0">
                <a:solidFill>
                  <a:schemeClr val="bg1"/>
                </a:solidFill>
              </a:rPr>
              <a:t>Mining Social Media for Barriers to PrEP Uptake and Persistence in the U.S.</a:t>
            </a:r>
          </a:p>
        </p:txBody>
      </p:sp>
      <p:sp>
        <p:nvSpPr>
          <p:cNvPr id="45" name="TextBox 44">
            <a:extLst>
              <a:ext uri="{FF2B5EF4-FFF2-40B4-BE49-F238E27FC236}">
                <a16:creationId xmlns:a16="http://schemas.microsoft.com/office/drawing/2014/main" id="{87D0F654-01A5-9CD9-6740-93961FBDEEB0}"/>
              </a:ext>
            </a:extLst>
          </p:cNvPr>
          <p:cNvSpPr txBox="1"/>
          <p:nvPr/>
        </p:nvSpPr>
        <p:spPr>
          <a:xfrm>
            <a:off x="1437724" y="2895600"/>
            <a:ext cx="41767676" cy="938719"/>
          </a:xfrm>
          <a:prstGeom prst="rect">
            <a:avLst/>
          </a:prstGeom>
          <a:noFill/>
        </p:spPr>
        <p:txBody>
          <a:bodyPr wrap="square" rtlCol="0">
            <a:spAutoFit/>
          </a:bodyPr>
          <a:lstStyle/>
          <a:p>
            <a:r>
              <a:rPr lang="en-US" sz="3200" b="1" dirty="0">
                <a:solidFill>
                  <a:schemeClr val="bg1"/>
                </a:solidFill>
              </a:rPr>
              <a:t>Madelyn Carlson</a:t>
            </a:r>
            <a:r>
              <a:rPr lang="en-US" sz="3200" b="1" baseline="30000" dirty="0">
                <a:solidFill>
                  <a:schemeClr val="bg1"/>
                </a:solidFill>
              </a:rPr>
              <a:t>1</a:t>
            </a:r>
            <a:r>
              <a:rPr lang="en-US" sz="3200" b="1" dirty="0">
                <a:solidFill>
                  <a:schemeClr val="bg1"/>
                </a:solidFill>
              </a:rPr>
              <a:t>, Rasheeta Chandler</a:t>
            </a:r>
            <a:r>
              <a:rPr lang="en-US" sz="3200" b="1" baseline="30000" dirty="0">
                <a:solidFill>
                  <a:schemeClr val="bg1"/>
                </a:solidFill>
              </a:rPr>
              <a:t>2</a:t>
            </a:r>
            <a:r>
              <a:rPr lang="en-US" sz="3200" b="1" dirty="0">
                <a:solidFill>
                  <a:schemeClr val="bg1"/>
                </a:solidFill>
              </a:rPr>
              <a:t>, Abeed Sarker</a:t>
            </a:r>
            <a:r>
              <a:rPr lang="en-US" sz="3200" b="1" baseline="30000" dirty="0">
                <a:solidFill>
                  <a:schemeClr val="bg1"/>
                </a:solidFill>
              </a:rPr>
              <a:t>3</a:t>
            </a:r>
            <a:r>
              <a:rPr lang="en-US" sz="3200" b="1" dirty="0">
                <a:solidFill>
                  <a:schemeClr val="bg1"/>
                </a:solidFill>
              </a:rPr>
              <a:t>, Jessica M. Sales</a:t>
            </a:r>
            <a:r>
              <a:rPr lang="en-US" sz="3200" b="1" baseline="30000" dirty="0">
                <a:solidFill>
                  <a:schemeClr val="bg1"/>
                </a:solidFill>
              </a:rPr>
              <a:t>1</a:t>
            </a:r>
            <a:r>
              <a:rPr lang="en-US" sz="3200" b="1" dirty="0">
                <a:solidFill>
                  <a:schemeClr val="bg1"/>
                </a:solidFill>
              </a:rPr>
              <a:t> </a:t>
            </a:r>
          </a:p>
          <a:p>
            <a:r>
              <a:rPr lang="en-US" sz="2300" b="1" baseline="30000" dirty="0">
                <a:solidFill>
                  <a:schemeClr val="bg1"/>
                </a:solidFill>
              </a:rPr>
              <a:t>1</a:t>
            </a:r>
            <a:r>
              <a:rPr lang="en-US" sz="2300" b="1" dirty="0">
                <a:solidFill>
                  <a:schemeClr val="bg1"/>
                </a:solidFill>
              </a:rPr>
              <a:t>Department of Behavioral, Social, and Health Education Sciences, Rollins School of Public Health, Emory University, Atlanta, GA, </a:t>
            </a:r>
            <a:r>
              <a:rPr lang="en-US" sz="2300" b="1" baseline="30000" dirty="0">
                <a:solidFill>
                  <a:schemeClr val="bg1"/>
                </a:solidFill>
              </a:rPr>
              <a:t>2</a:t>
            </a:r>
            <a:r>
              <a:rPr lang="en-US" sz="2300" b="1" dirty="0">
                <a:solidFill>
                  <a:schemeClr val="bg1"/>
                </a:solidFill>
              </a:rPr>
              <a:t>Nell Hodgson School of Nursing, Emory University, Atlanta, GA, </a:t>
            </a:r>
            <a:r>
              <a:rPr lang="en-US" sz="2300" b="1" baseline="30000" dirty="0">
                <a:solidFill>
                  <a:schemeClr val="bg1"/>
                </a:solidFill>
              </a:rPr>
              <a:t>2</a:t>
            </a:r>
            <a:r>
              <a:rPr lang="en-US" sz="2300" b="1" dirty="0">
                <a:solidFill>
                  <a:schemeClr val="bg1"/>
                </a:solidFill>
              </a:rPr>
              <a:t>Department of Biomedical Informatics, Emory University School of Medicine, Atlanta, GA</a:t>
            </a:r>
          </a:p>
        </p:txBody>
      </p:sp>
      <p:sp>
        <p:nvSpPr>
          <p:cNvPr id="49" name="Freeform 9">
            <a:extLst>
              <a:ext uri="{FF2B5EF4-FFF2-40B4-BE49-F238E27FC236}">
                <a16:creationId xmlns:a16="http://schemas.microsoft.com/office/drawing/2014/main" id="{42C4F835-0646-9B1C-A9BC-C1B3822362C1}"/>
              </a:ext>
            </a:extLst>
          </p:cNvPr>
          <p:cNvSpPr/>
          <p:nvPr/>
        </p:nvSpPr>
        <p:spPr>
          <a:xfrm>
            <a:off x="15455785" y="5539633"/>
            <a:ext cx="12966815" cy="1198597"/>
          </a:xfrm>
          <a:custGeom>
            <a:avLst/>
            <a:gdLst/>
            <a:ahLst/>
            <a:cxnLst/>
            <a:rect l="l" t="t" r="r" b="b"/>
            <a:pathLst>
              <a:path w="12354746" h="1198597">
                <a:moveTo>
                  <a:pt x="0" y="0"/>
                </a:moveTo>
                <a:lnTo>
                  <a:pt x="12354746" y="0"/>
                </a:lnTo>
                <a:lnTo>
                  <a:pt x="12354746" y="1198598"/>
                </a:lnTo>
                <a:lnTo>
                  <a:pt x="0" y="1198598"/>
                </a:lnTo>
                <a:lnTo>
                  <a:pt x="0" y="0"/>
                </a:lnTo>
                <a:close/>
              </a:path>
            </a:pathLst>
          </a:custGeom>
          <a:blipFill>
            <a:blip r:embed="rId2"/>
            <a:stretch>
              <a:fillRect t="-84071" r="-8365" b="-184071"/>
            </a:stretch>
          </a:blipFill>
        </p:spPr>
        <p:txBody>
          <a:bodyPr/>
          <a:lstStyle/>
          <a:p>
            <a:endParaRPr lang="en-US"/>
          </a:p>
        </p:txBody>
      </p:sp>
      <p:grpSp>
        <p:nvGrpSpPr>
          <p:cNvPr id="50" name="Group 10">
            <a:extLst>
              <a:ext uri="{FF2B5EF4-FFF2-40B4-BE49-F238E27FC236}">
                <a16:creationId xmlns:a16="http://schemas.microsoft.com/office/drawing/2014/main" id="{0B9D5056-6A14-FADB-5A66-55AA47956177}"/>
              </a:ext>
            </a:extLst>
          </p:cNvPr>
          <p:cNvGrpSpPr/>
          <p:nvPr/>
        </p:nvGrpSpPr>
        <p:grpSpPr>
          <a:xfrm>
            <a:off x="15063491" y="5173186"/>
            <a:ext cx="12967675" cy="1363354"/>
            <a:chOff x="0" y="0"/>
            <a:chExt cx="14643633" cy="1615827"/>
          </a:xfrm>
          <a:solidFill>
            <a:srgbClr val="375C9E"/>
          </a:solidFill>
        </p:grpSpPr>
        <p:sp>
          <p:nvSpPr>
            <p:cNvPr id="51" name="Freeform 11">
              <a:extLst>
                <a:ext uri="{FF2B5EF4-FFF2-40B4-BE49-F238E27FC236}">
                  <a16:creationId xmlns:a16="http://schemas.microsoft.com/office/drawing/2014/main" id="{5E5535A1-300B-1B73-8A22-7CB273CA12D4}"/>
                </a:ext>
              </a:extLst>
            </p:cNvPr>
            <p:cNvSpPr/>
            <p:nvPr/>
          </p:nvSpPr>
          <p:spPr>
            <a:xfrm>
              <a:off x="0" y="0"/>
              <a:ext cx="14643608" cy="1615821"/>
            </a:xfrm>
            <a:custGeom>
              <a:avLst/>
              <a:gdLst/>
              <a:ahLst/>
              <a:cxnLst/>
              <a:rect l="l" t="t" r="r" b="b"/>
              <a:pathLst>
                <a:path w="14643608" h="1615821">
                  <a:moveTo>
                    <a:pt x="0" y="0"/>
                  </a:moveTo>
                  <a:lnTo>
                    <a:pt x="14643608" y="0"/>
                  </a:lnTo>
                  <a:lnTo>
                    <a:pt x="14643608" y="1615821"/>
                  </a:lnTo>
                  <a:lnTo>
                    <a:pt x="0" y="1615821"/>
                  </a:lnTo>
                  <a:close/>
                </a:path>
              </a:pathLst>
            </a:custGeom>
            <a:grpFill/>
          </p:spPr>
          <p:txBody>
            <a:bodyPr/>
            <a:lstStyle/>
            <a:p>
              <a:endParaRPr lang="en-US"/>
            </a:p>
          </p:txBody>
        </p:sp>
        <p:sp>
          <p:nvSpPr>
            <p:cNvPr id="52" name="TextBox 12">
              <a:extLst>
                <a:ext uri="{FF2B5EF4-FFF2-40B4-BE49-F238E27FC236}">
                  <a16:creationId xmlns:a16="http://schemas.microsoft.com/office/drawing/2014/main" id="{7A89D235-29A6-CCE9-6B5B-3530C15FF6B2}"/>
                </a:ext>
              </a:extLst>
            </p:cNvPr>
            <p:cNvSpPr txBox="1"/>
            <p:nvPr/>
          </p:nvSpPr>
          <p:spPr>
            <a:xfrm>
              <a:off x="0" y="-123825"/>
              <a:ext cx="14643633" cy="1739652"/>
            </a:xfrm>
            <a:prstGeom prst="rect">
              <a:avLst/>
            </a:prstGeom>
            <a:grpFill/>
          </p:spPr>
          <p:txBody>
            <a:bodyPr lIns="57150" tIns="57150" rIns="57150" bIns="57150" rtlCol="0" anchor="ctr"/>
            <a:lstStyle/>
            <a:p>
              <a:pPr algn="ctr">
                <a:lnSpc>
                  <a:spcPts val="7087"/>
                </a:lnSpc>
              </a:pPr>
              <a:r>
                <a:rPr lang="en-US" sz="5906" spc="55" dirty="0">
                  <a:solidFill>
                    <a:schemeClr val="bg1"/>
                  </a:solidFill>
                  <a:latin typeface="Calibri (MS) Bold"/>
                </a:rPr>
                <a:t>Methods</a:t>
              </a:r>
            </a:p>
          </p:txBody>
        </p:sp>
      </p:grpSp>
      <p:sp>
        <p:nvSpPr>
          <p:cNvPr id="60" name="Freeform 9">
            <a:extLst>
              <a:ext uri="{FF2B5EF4-FFF2-40B4-BE49-F238E27FC236}">
                <a16:creationId xmlns:a16="http://schemas.microsoft.com/office/drawing/2014/main" id="{08D3DA4C-E28D-8C85-6FD6-5CE439C84186}"/>
              </a:ext>
            </a:extLst>
          </p:cNvPr>
          <p:cNvSpPr/>
          <p:nvPr/>
        </p:nvSpPr>
        <p:spPr>
          <a:xfrm>
            <a:off x="30240306" y="25776203"/>
            <a:ext cx="12965094" cy="1198597"/>
          </a:xfrm>
          <a:custGeom>
            <a:avLst/>
            <a:gdLst/>
            <a:ahLst/>
            <a:cxnLst/>
            <a:rect l="l" t="t" r="r" b="b"/>
            <a:pathLst>
              <a:path w="12354746" h="1198597">
                <a:moveTo>
                  <a:pt x="0" y="0"/>
                </a:moveTo>
                <a:lnTo>
                  <a:pt x="12354746" y="0"/>
                </a:lnTo>
                <a:lnTo>
                  <a:pt x="12354746" y="1198598"/>
                </a:lnTo>
                <a:lnTo>
                  <a:pt x="0" y="1198598"/>
                </a:lnTo>
                <a:lnTo>
                  <a:pt x="0" y="0"/>
                </a:lnTo>
                <a:close/>
              </a:path>
            </a:pathLst>
          </a:custGeom>
          <a:blipFill>
            <a:blip r:embed="rId2"/>
            <a:stretch>
              <a:fillRect t="-84071" r="-8365" b="-184071"/>
            </a:stretch>
          </a:blipFill>
        </p:spPr>
        <p:txBody>
          <a:bodyPr/>
          <a:lstStyle/>
          <a:p>
            <a:endParaRPr lang="en-US"/>
          </a:p>
        </p:txBody>
      </p:sp>
      <p:grpSp>
        <p:nvGrpSpPr>
          <p:cNvPr id="61" name="Group 10">
            <a:extLst>
              <a:ext uri="{FF2B5EF4-FFF2-40B4-BE49-F238E27FC236}">
                <a16:creationId xmlns:a16="http://schemas.microsoft.com/office/drawing/2014/main" id="{6CB9F60E-70BF-19F5-419D-DE0501466179}"/>
              </a:ext>
            </a:extLst>
          </p:cNvPr>
          <p:cNvGrpSpPr/>
          <p:nvPr/>
        </p:nvGrpSpPr>
        <p:grpSpPr>
          <a:xfrm>
            <a:off x="29848011" y="25409756"/>
            <a:ext cx="12965955" cy="1363354"/>
            <a:chOff x="0" y="0"/>
            <a:chExt cx="14643633" cy="1615827"/>
          </a:xfrm>
          <a:solidFill>
            <a:srgbClr val="375C9E"/>
          </a:solidFill>
        </p:grpSpPr>
        <p:sp>
          <p:nvSpPr>
            <p:cNvPr id="62" name="Freeform 11">
              <a:extLst>
                <a:ext uri="{FF2B5EF4-FFF2-40B4-BE49-F238E27FC236}">
                  <a16:creationId xmlns:a16="http://schemas.microsoft.com/office/drawing/2014/main" id="{68A8BED3-3E23-5CBF-1A08-1B6D8D498029}"/>
                </a:ext>
              </a:extLst>
            </p:cNvPr>
            <p:cNvSpPr/>
            <p:nvPr/>
          </p:nvSpPr>
          <p:spPr>
            <a:xfrm>
              <a:off x="0" y="0"/>
              <a:ext cx="14643608" cy="1615821"/>
            </a:xfrm>
            <a:custGeom>
              <a:avLst/>
              <a:gdLst/>
              <a:ahLst/>
              <a:cxnLst/>
              <a:rect l="l" t="t" r="r" b="b"/>
              <a:pathLst>
                <a:path w="14643608" h="1615821">
                  <a:moveTo>
                    <a:pt x="0" y="0"/>
                  </a:moveTo>
                  <a:lnTo>
                    <a:pt x="14643608" y="0"/>
                  </a:lnTo>
                  <a:lnTo>
                    <a:pt x="14643608" y="1615821"/>
                  </a:lnTo>
                  <a:lnTo>
                    <a:pt x="0" y="1615821"/>
                  </a:lnTo>
                  <a:close/>
                </a:path>
              </a:pathLst>
            </a:custGeom>
            <a:grpFill/>
          </p:spPr>
          <p:txBody>
            <a:bodyPr/>
            <a:lstStyle/>
            <a:p>
              <a:endParaRPr lang="en-US"/>
            </a:p>
          </p:txBody>
        </p:sp>
        <p:sp>
          <p:nvSpPr>
            <p:cNvPr id="63" name="TextBox 12">
              <a:extLst>
                <a:ext uri="{FF2B5EF4-FFF2-40B4-BE49-F238E27FC236}">
                  <a16:creationId xmlns:a16="http://schemas.microsoft.com/office/drawing/2014/main" id="{DFF37376-C6D6-D46D-34CB-0CA00EB480A2}"/>
                </a:ext>
              </a:extLst>
            </p:cNvPr>
            <p:cNvSpPr txBox="1"/>
            <p:nvPr/>
          </p:nvSpPr>
          <p:spPr>
            <a:xfrm>
              <a:off x="0" y="-123825"/>
              <a:ext cx="14643633" cy="1739652"/>
            </a:xfrm>
            <a:prstGeom prst="rect">
              <a:avLst/>
            </a:prstGeom>
            <a:grpFill/>
          </p:spPr>
          <p:txBody>
            <a:bodyPr lIns="57150" tIns="57150" rIns="57150" bIns="57150" rtlCol="0" anchor="ctr"/>
            <a:lstStyle/>
            <a:p>
              <a:pPr algn="ctr">
                <a:lnSpc>
                  <a:spcPts val="7087"/>
                </a:lnSpc>
              </a:pPr>
              <a:r>
                <a:rPr lang="en-US" sz="5906" spc="55" dirty="0">
                  <a:solidFill>
                    <a:schemeClr val="bg1"/>
                  </a:solidFill>
                  <a:latin typeface="Calibri (MS) Bold"/>
                </a:rPr>
                <a:t>Conclusion</a:t>
              </a:r>
            </a:p>
          </p:txBody>
        </p:sp>
      </p:grpSp>
      <p:sp>
        <p:nvSpPr>
          <p:cNvPr id="69" name="TextBox 40">
            <a:extLst>
              <a:ext uri="{FF2B5EF4-FFF2-40B4-BE49-F238E27FC236}">
                <a16:creationId xmlns:a16="http://schemas.microsoft.com/office/drawing/2014/main" id="{559DEA58-9DA6-9153-6752-2DAE6CF36E4A}"/>
              </a:ext>
            </a:extLst>
          </p:cNvPr>
          <p:cNvSpPr txBox="1"/>
          <p:nvPr/>
        </p:nvSpPr>
        <p:spPr>
          <a:xfrm>
            <a:off x="15013407" y="7251012"/>
            <a:ext cx="13288038" cy="13884144"/>
          </a:xfrm>
          <a:prstGeom prst="rect">
            <a:avLst/>
          </a:prstGeom>
        </p:spPr>
        <p:txBody>
          <a:bodyPr lIns="57150" tIns="57150" rIns="57150" bIns="57150" rtlCol="0" anchor="t"/>
          <a:lstStyle/>
          <a:p>
            <a:pPr marL="685800" indent="-685800" algn="just">
              <a:buFont typeface="Arial" panose="020B0604020202020204" pitchFamily="34" charset="0"/>
              <a:buChar char="•"/>
            </a:pPr>
            <a:r>
              <a:rPr lang="en-US" sz="4500" dirty="0"/>
              <a:t>Reddit data were downloaded from r/prep (</a:t>
            </a:r>
            <a:r>
              <a:rPr lang="en-US" sz="4500" dirty="0">
                <a:hlinkClick r:id="rId4"/>
              </a:rPr>
              <a:t>https://www.reddit.com/r/prep/</a:t>
            </a:r>
            <a:r>
              <a:rPr lang="en-US" sz="4500" dirty="0"/>
              <a:t>), Jan-Dec 2024 using the PRAW application programming interface. The CDC PrEP Guidelines were downloaded from cdc.gov as a PDF.</a:t>
            </a:r>
          </a:p>
          <a:p>
            <a:pPr marL="685800" indent="-685800" algn="just">
              <a:buFont typeface="Arial" panose="020B0604020202020204" pitchFamily="34" charset="0"/>
              <a:buChar char="•"/>
            </a:pPr>
            <a:r>
              <a:rPr lang="en-US" sz="4500" dirty="0"/>
              <a:t>Preprocessed data by tokenizing posts. The NLP Bag-of-Words (BoW) technique treats datasets as “bags” of words, producing lists of unique words from Reddit and the CDC guidelines. We manually reviewed these lists to identify and extract all terms synonymous with PrEP (i.e., the PrEP-related lexicon)</a:t>
            </a:r>
          </a:p>
          <a:p>
            <a:pPr marL="685800" indent="-685800" algn="just">
              <a:buFont typeface="Arial" panose="020B0604020202020204" pitchFamily="34" charset="0"/>
              <a:buChar char="•"/>
            </a:pPr>
            <a:r>
              <a:rPr lang="en-US" sz="4500" dirty="0"/>
              <a:t>Examined terms from the lexicon Reddit and guidelines to quantify the words the public uses to refer to PrEP on Google and Reddit and generate descriptive statistics on their frequency.</a:t>
            </a:r>
          </a:p>
          <a:p>
            <a:pPr marL="685800" indent="-685800" algn="just">
              <a:buFont typeface="Arial" panose="020B0604020202020204" pitchFamily="34" charset="0"/>
              <a:buChar char="•"/>
            </a:pPr>
            <a:r>
              <a:rPr lang="en-US" sz="4500" dirty="0"/>
              <a:t>We found the common terms between Reddit and CDC datasets, then compared their distributions through density plots for each set and conducted a chi-square test to assess differences, considering results significant at </a:t>
            </a:r>
            <a:r>
              <a:rPr lang="el-GR" sz="4500" dirty="0"/>
              <a:t>α = 0.05. </a:t>
            </a:r>
            <a:endParaRPr lang="en-US" sz="4500" dirty="0"/>
          </a:p>
          <a:p>
            <a:pPr marL="685800" indent="-685800" algn="just">
              <a:buFont typeface="Arial" panose="020B0604020202020204" pitchFamily="34" charset="0"/>
              <a:buChar char="•"/>
            </a:pPr>
            <a:endParaRPr lang="en-US" sz="4500" dirty="0"/>
          </a:p>
          <a:p>
            <a:pPr marL="685800" indent="-685800" algn="just">
              <a:buFont typeface="Arial" panose="020B0604020202020204" pitchFamily="34" charset="0"/>
              <a:buChar char="•"/>
            </a:pPr>
            <a:endParaRPr lang="en-US" sz="4500" dirty="0"/>
          </a:p>
        </p:txBody>
      </p:sp>
      <p:sp>
        <p:nvSpPr>
          <p:cNvPr id="73" name="TextBox 40">
            <a:extLst>
              <a:ext uri="{FF2B5EF4-FFF2-40B4-BE49-F238E27FC236}">
                <a16:creationId xmlns:a16="http://schemas.microsoft.com/office/drawing/2014/main" id="{194AB7B4-6710-B1BD-2984-95226751E315}"/>
              </a:ext>
            </a:extLst>
          </p:cNvPr>
          <p:cNvSpPr txBox="1"/>
          <p:nvPr/>
        </p:nvSpPr>
        <p:spPr>
          <a:xfrm>
            <a:off x="15063491" y="23975533"/>
            <a:ext cx="13288038" cy="5945170"/>
          </a:xfrm>
          <a:prstGeom prst="rect">
            <a:avLst/>
          </a:prstGeom>
        </p:spPr>
        <p:txBody>
          <a:bodyPr lIns="57150" tIns="57150" rIns="57150" bIns="57150" rtlCol="0" anchor="t"/>
          <a:lstStyle/>
          <a:p>
            <a:pPr marL="685800" indent="-685800" algn="just">
              <a:buFont typeface="Arial" panose="020B0604020202020204" pitchFamily="34" charset="0"/>
              <a:buChar char="•"/>
            </a:pPr>
            <a:r>
              <a:rPr lang="en-US" sz="4500" dirty="0"/>
              <a:t>In the Reddit data from r/prep, most common used terms were “prep” (N=298), “hiv” (N=76), “truvada” (N=74), “descovy” (N=40), “</a:t>
            </a:r>
            <a:r>
              <a:rPr lang="en-US" sz="4500" dirty="0" err="1"/>
              <a:t>mistr</a:t>
            </a:r>
            <a:r>
              <a:rPr lang="en-US" sz="4500" dirty="0"/>
              <a:t>” (N=15), “apretude” (N=14). See Figure 1. </a:t>
            </a:r>
          </a:p>
        </p:txBody>
      </p:sp>
      <p:pic>
        <p:nvPicPr>
          <p:cNvPr id="75" name="Picture 74" descr="A close-up of words&#10;&#10;AI-generated content may be incorrect.">
            <a:extLst>
              <a:ext uri="{FF2B5EF4-FFF2-40B4-BE49-F238E27FC236}">
                <a16:creationId xmlns:a16="http://schemas.microsoft.com/office/drawing/2014/main" id="{316A0D46-F6B1-E7B3-A4CB-DA26A3BDC8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63555" y="28177682"/>
            <a:ext cx="8134255" cy="4139203"/>
          </a:xfrm>
          <a:prstGeom prst="rect">
            <a:avLst/>
          </a:prstGeom>
          <a:effectLst>
            <a:outerShdw blurRad="50800" dist="38100" dir="2700000" algn="tl" rotWithShape="0">
              <a:prstClr val="black">
                <a:alpha val="40000"/>
              </a:prstClr>
            </a:outerShdw>
          </a:effectLst>
        </p:spPr>
      </p:pic>
      <p:sp>
        <p:nvSpPr>
          <p:cNvPr id="76" name="Freeform 9">
            <a:extLst>
              <a:ext uri="{FF2B5EF4-FFF2-40B4-BE49-F238E27FC236}">
                <a16:creationId xmlns:a16="http://schemas.microsoft.com/office/drawing/2014/main" id="{0538087A-F537-5605-54B5-62438953830A}"/>
              </a:ext>
            </a:extLst>
          </p:cNvPr>
          <p:cNvSpPr/>
          <p:nvPr/>
        </p:nvSpPr>
        <p:spPr>
          <a:xfrm>
            <a:off x="15456623" y="22187095"/>
            <a:ext cx="12965955" cy="1198597"/>
          </a:xfrm>
          <a:custGeom>
            <a:avLst/>
            <a:gdLst/>
            <a:ahLst/>
            <a:cxnLst/>
            <a:rect l="l" t="t" r="r" b="b"/>
            <a:pathLst>
              <a:path w="12354746" h="1198597">
                <a:moveTo>
                  <a:pt x="0" y="0"/>
                </a:moveTo>
                <a:lnTo>
                  <a:pt x="12354746" y="0"/>
                </a:lnTo>
                <a:lnTo>
                  <a:pt x="12354746" y="1198598"/>
                </a:lnTo>
                <a:lnTo>
                  <a:pt x="0" y="1198598"/>
                </a:lnTo>
                <a:lnTo>
                  <a:pt x="0" y="0"/>
                </a:lnTo>
                <a:close/>
              </a:path>
            </a:pathLst>
          </a:custGeom>
          <a:blipFill>
            <a:blip r:embed="rId2"/>
            <a:stretch>
              <a:fillRect t="-84071" r="-8365" b="-184071"/>
            </a:stretch>
          </a:blipFill>
        </p:spPr>
        <p:txBody>
          <a:bodyPr/>
          <a:lstStyle/>
          <a:p>
            <a:endParaRPr lang="en-US"/>
          </a:p>
        </p:txBody>
      </p:sp>
      <p:grpSp>
        <p:nvGrpSpPr>
          <p:cNvPr id="77" name="Group 10">
            <a:extLst>
              <a:ext uri="{FF2B5EF4-FFF2-40B4-BE49-F238E27FC236}">
                <a16:creationId xmlns:a16="http://schemas.microsoft.com/office/drawing/2014/main" id="{ACE2DE21-BDEC-DCDD-E2DD-BAD297524637}"/>
              </a:ext>
            </a:extLst>
          </p:cNvPr>
          <p:cNvGrpSpPr/>
          <p:nvPr/>
        </p:nvGrpSpPr>
        <p:grpSpPr>
          <a:xfrm>
            <a:off x="15064329" y="21820648"/>
            <a:ext cx="12966815" cy="1363354"/>
            <a:chOff x="0" y="0"/>
            <a:chExt cx="14643633" cy="1615827"/>
          </a:xfrm>
          <a:solidFill>
            <a:srgbClr val="375C9E"/>
          </a:solidFill>
        </p:grpSpPr>
        <p:sp>
          <p:nvSpPr>
            <p:cNvPr id="78" name="Freeform 11">
              <a:extLst>
                <a:ext uri="{FF2B5EF4-FFF2-40B4-BE49-F238E27FC236}">
                  <a16:creationId xmlns:a16="http://schemas.microsoft.com/office/drawing/2014/main" id="{0442F7AB-F7FD-8CC6-D470-8CA4E1DF0487}"/>
                </a:ext>
              </a:extLst>
            </p:cNvPr>
            <p:cNvSpPr/>
            <p:nvPr/>
          </p:nvSpPr>
          <p:spPr>
            <a:xfrm>
              <a:off x="0" y="0"/>
              <a:ext cx="14643608" cy="1615821"/>
            </a:xfrm>
            <a:custGeom>
              <a:avLst/>
              <a:gdLst/>
              <a:ahLst/>
              <a:cxnLst/>
              <a:rect l="l" t="t" r="r" b="b"/>
              <a:pathLst>
                <a:path w="14643608" h="1615821">
                  <a:moveTo>
                    <a:pt x="0" y="0"/>
                  </a:moveTo>
                  <a:lnTo>
                    <a:pt x="14643608" y="0"/>
                  </a:lnTo>
                  <a:lnTo>
                    <a:pt x="14643608" y="1615821"/>
                  </a:lnTo>
                  <a:lnTo>
                    <a:pt x="0" y="1615821"/>
                  </a:lnTo>
                  <a:close/>
                </a:path>
              </a:pathLst>
            </a:custGeom>
            <a:grpFill/>
          </p:spPr>
          <p:txBody>
            <a:bodyPr/>
            <a:lstStyle/>
            <a:p>
              <a:endParaRPr lang="en-US"/>
            </a:p>
          </p:txBody>
        </p:sp>
        <p:sp>
          <p:nvSpPr>
            <p:cNvPr id="79" name="TextBox 12">
              <a:extLst>
                <a:ext uri="{FF2B5EF4-FFF2-40B4-BE49-F238E27FC236}">
                  <a16:creationId xmlns:a16="http://schemas.microsoft.com/office/drawing/2014/main" id="{66ED701B-2113-5D6E-5632-4850FE057CF4}"/>
                </a:ext>
              </a:extLst>
            </p:cNvPr>
            <p:cNvSpPr txBox="1"/>
            <p:nvPr/>
          </p:nvSpPr>
          <p:spPr>
            <a:xfrm>
              <a:off x="0" y="-123825"/>
              <a:ext cx="14643633" cy="1739652"/>
            </a:xfrm>
            <a:prstGeom prst="rect">
              <a:avLst/>
            </a:prstGeom>
            <a:grpFill/>
          </p:spPr>
          <p:txBody>
            <a:bodyPr lIns="57150" tIns="57150" rIns="57150" bIns="57150" rtlCol="0" anchor="ctr"/>
            <a:lstStyle/>
            <a:p>
              <a:pPr algn="ctr">
                <a:lnSpc>
                  <a:spcPts val="7087"/>
                </a:lnSpc>
              </a:pPr>
              <a:r>
                <a:rPr lang="en-US" sz="5906" spc="55" dirty="0">
                  <a:solidFill>
                    <a:schemeClr val="bg1"/>
                  </a:solidFill>
                  <a:latin typeface="Calibri (MS) Bold"/>
                </a:rPr>
                <a:t>Results</a:t>
              </a:r>
            </a:p>
          </p:txBody>
        </p:sp>
      </p:grpSp>
      <p:pic>
        <p:nvPicPr>
          <p:cNvPr id="82" name="Picture 81" descr="A close-up of words&#10;&#10;AI-generated content may be incorrect.">
            <a:extLst>
              <a:ext uri="{FF2B5EF4-FFF2-40B4-BE49-F238E27FC236}">
                <a16:creationId xmlns:a16="http://schemas.microsoft.com/office/drawing/2014/main" id="{EE0B8012-4A04-76B4-FC45-CCD65BBE58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475762" y="28166795"/>
            <a:ext cx="8134255" cy="4139204"/>
          </a:xfrm>
          <a:prstGeom prst="rect">
            <a:avLst/>
          </a:prstGeom>
          <a:effectLst>
            <a:outerShdw blurRad="50800" dist="38100" dir="2700000" algn="tl" rotWithShape="0">
              <a:prstClr val="black">
                <a:alpha val="40000"/>
              </a:prstClr>
            </a:outerShdw>
          </a:effectLst>
        </p:spPr>
      </p:pic>
      <p:sp>
        <p:nvSpPr>
          <p:cNvPr id="86" name="TextBox 40">
            <a:extLst>
              <a:ext uri="{FF2B5EF4-FFF2-40B4-BE49-F238E27FC236}">
                <a16:creationId xmlns:a16="http://schemas.microsoft.com/office/drawing/2014/main" id="{CCCB83DF-EF06-1C81-99C8-E84AF8377601}"/>
              </a:ext>
            </a:extLst>
          </p:cNvPr>
          <p:cNvSpPr txBox="1"/>
          <p:nvPr/>
        </p:nvSpPr>
        <p:spPr>
          <a:xfrm>
            <a:off x="29122511" y="5068708"/>
            <a:ext cx="14006689" cy="11206565"/>
          </a:xfrm>
          <a:prstGeom prst="rect">
            <a:avLst/>
          </a:prstGeom>
        </p:spPr>
        <p:txBody>
          <a:bodyPr lIns="57150" tIns="57150" rIns="57150" bIns="57150" rtlCol="0" anchor="t"/>
          <a:lstStyle/>
          <a:p>
            <a:pPr marL="685800" indent="-685800" algn="just">
              <a:buFont typeface="Arial" panose="020B0604020202020204" pitchFamily="34" charset="0"/>
              <a:buChar char="•"/>
            </a:pPr>
            <a:r>
              <a:rPr lang="en-US" sz="4500" dirty="0"/>
              <a:t>The CDC guidelines contained 4350 unique words. The most frequently used words were “hiv” (N=829), “prep” (N=594), “infection” (N=261), and “cabotegravir” (N=73). See Figure 2. We found that N=50 (out of 159) terms from the Reddit data were present in CDC Guidelines. </a:t>
            </a:r>
          </a:p>
          <a:p>
            <a:pPr marL="685800" indent="-685800" algn="just">
              <a:buFont typeface="Arial" panose="020B0604020202020204" pitchFamily="34" charset="0"/>
              <a:buChar char="•"/>
            </a:pPr>
            <a:r>
              <a:rPr lang="en-US" sz="4500" dirty="0"/>
              <a:t>We thematically categorized the terms from Reddit and the CDC guidelines into four domains: 1) biomedical and clinical terms (N=1045 terms in both data sources), 2) behavioral, demographic, risk factor terms (N=329), 3) research, study design, data terms (N=1056), and 4) healthcare, services, and implementation terms (N=660). </a:t>
            </a:r>
          </a:p>
          <a:p>
            <a:pPr marL="685800" indent="-685800" algn="just">
              <a:buFont typeface="Arial" panose="020B0604020202020204" pitchFamily="34" charset="0"/>
              <a:buChar char="•"/>
            </a:pPr>
            <a:r>
              <a:rPr lang="en-US" sz="4500" dirty="0"/>
              <a:t>These were plotted in a population pyramid to visualize the distribution of terms in each dataset. See Figure 3. Chi square statistic of the differences in the distribution of terms by domain in the datasets: Chi-square statistic 200.18 (p-value &lt;0.05). </a:t>
            </a:r>
          </a:p>
          <a:p>
            <a:pPr marL="685800" indent="-685800" algn="just">
              <a:buFont typeface="Arial" panose="020B0604020202020204" pitchFamily="34" charset="0"/>
              <a:buChar char="•"/>
            </a:pPr>
            <a:endParaRPr lang="en-US" sz="4500" dirty="0"/>
          </a:p>
        </p:txBody>
      </p:sp>
      <p:sp>
        <p:nvSpPr>
          <p:cNvPr id="89" name="TextBox 40">
            <a:extLst>
              <a:ext uri="{FF2B5EF4-FFF2-40B4-BE49-F238E27FC236}">
                <a16:creationId xmlns:a16="http://schemas.microsoft.com/office/drawing/2014/main" id="{04AED2C4-F1ED-4AD4-86A2-44D33DD4D4BA}"/>
              </a:ext>
            </a:extLst>
          </p:cNvPr>
          <p:cNvSpPr txBox="1"/>
          <p:nvPr/>
        </p:nvSpPr>
        <p:spPr>
          <a:xfrm>
            <a:off x="8463534" y="27391531"/>
            <a:ext cx="7881950" cy="1042604"/>
          </a:xfrm>
          <a:prstGeom prst="rect">
            <a:avLst/>
          </a:prstGeom>
        </p:spPr>
        <p:txBody>
          <a:bodyPr lIns="57150" tIns="57150" rIns="57150" bIns="57150" rtlCol="0" anchor="t"/>
          <a:lstStyle/>
          <a:p>
            <a:pPr algn="just"/>
            <a:r>
              <a:rPr lang="en-US" sz="4500" b="1" dirty="0"/>
              <a:t>Figure 1. Reddit Terms Used </a:t>
            </a:r>
          </a:p>
        </p:txBody>
      </p:sp>
      <p:sp>
        <p:nvSpPr>
          <p:cNvPr id="90" name="TextBox 40">
            <a:extLst>
              <a:ext uri="{FF2B5EF4-FFF2-40B4-BE49-F238E27FC236}">
                <a16:creationId xmlns:a16="http://schemas.microsoft.com/office/drawing/2014/main" id="{3C229874-68C9-58CC-A231-AB1B361710D0}"/>
              </a:ext>
            </a:extLst>
          </p:cNvPr>
          <p:cNvSpPr txBox="1"/>
          <p:nvPr/>
        </p:nvSpPr>
        <p:spPr>
          <a:xfrm>
            <a:off x="18542616" y="27330267"/>
            <a:ext cx="9488506" cy="1042604"/>
          </a:xfrm>
          <a:prstGeom prst="rect">
            <a:avLst/>
          </a:prstGeom>
        </p:spPr>
        <p:txBody>
          <a:bodyPr lIns="57150" tIns="57150" rIns="57150" bIns="57150" rtlCol="0" anchor="t"/>
          <a:lstStyle/>
          <a:p>
            <a:pPr algn="just"/>
            <a:r>
              <a:rPr lang="en-US" sz="4500" b="1" dirty="0"/>
              <a:t>Figure 2. CDC Guideline Terms Used </a:t>
            </a:r>
          </a:p>
        </p:txBody>
      </p:sp>
      <p:grpSp>
        <p:nvGrpSpPr>
          <p:cNvPr id="101" name="Group 100">
            <a:extLst>
              <a:ext uri="{FF2B5EF4-FFF2-40B4-BE49-F238E27FC236}">
                <a16:creationId xmlns:a16="http://schemas.microsoft.com/office/drawing/2014/main" id="{B47FC4D3-1577-60E4-006A-365F7052CDE9}"/>
              </a:ext>
            </a:extLst>
          </p:cNvPr>
          <p:cNvGrpSpPr/>
          <p:nvPr/>
        </p:nvGrpSpPr>
        <p:grpSpPr>
          <a:xfrm>
            <a:off x="29842216" y="16281495"/>
            <a:ext cx="13510532" cy="2100712"/>
            <a:chOff x="29831265" y="15902915"/>
            <a:chExt cx="13510532" cy="2100712"/>
          </a:xfrm>
        </p:grpSpPr>
        <p:sp>
          <p:nvSpPr>
            <p:cNvPr id="95" name="TextBox 40">
              <a:extLst>
                <a:ext uri="{FF2B5EF4-FFF2-40B4-BE49-F238E27FC236}">
                  <a16:creationId xmlns:a16="http://schemas.microsoft.com/office/drawing/2014/main" id="{0D8485A2-40D3-A0BD-E4F2-E584D9326507}"/>
                </a:ext>
              </a:extLst>
            </p:cNvPr>
            <p:cNvSpPr txBox="1"/>
            <p:nvPr/>
          </p:nvSpPr>
          <p:spPr>
            <a:xfrm>
              <a:off x="29831265" y="15902915"/>
              <a:ext cx="13510532" cy="2006505"/>
            </a:xfrm>
            <a:prstGeom prst="rect">
              <a:avLst/>
            </a:prstGeom>
          </p:spPr>
          <p:txBody>
            <a:bodyPr lIns="57150" tIns="57150" rIns="57150" bIns="57150" rtlCol="0" anchor="t"/>
            <a:lstStyle/>
            <a:p>
              <a:r>
                <a:rPr lang="en-US" sz="4500" b="1" dirty="0"/>
                <a:t>Figure 3. Population Pyramid Plot Terms Per Domain from Reddit and CDC Guidelines</a:t>
              </a:r>
            </a:p>
          </p:txBody>
        </p:sp>
        <p:sp>
          <p:nvSpPr>
            <p:cNvPr id="97" name="TextBox 96">
              <a:extLst>
                <a:ext uri="{FF2B5EF4-FFF2-40B4-BE49-F238E27FC236}">
                  <a16:creationId xmlns:a16="http://schemas.microsoft.com/office/drawing/2014/main" id="{2AB76255-5167-FEF3-DA88-728BB27E0E4E}"/>
                </a:ext>
              </a:extLst>
            </p:cNvPr>
            <p:cNvSpPr txBox="1"/>
            <p:nvPr/>
          </p:nvSpPr>
          <p:spPr>
            <a:xfrm>
              <a:off x="32080200" y="17449629"/>
              <a:ext cx="1661032" cy="553998"/>
            </a:xfrm>
            <a:prstGeom prst="rect">
              <a:avLst/>
            </a:prstGeom>
            <a:noFill/>
          </p:spPr>
          <p:txBody>
            <a:bodyPr wrap="none" rtlCol="0">
              <a:spAutoFit/>
            </a:bodyPr>
            <a:lstStyle/>
            <a:p>
              <a:r>
                <a:rPr lang="en-US" sz="3000" u="sng" dirty="0"/>
                <a:t>Domains</a:t>
              </a:r>
              <a:r>
                <a:rPr lang="en-US" sz="3000" dirty="0"/>
                <a:t>:</a:t>
              </a:r>
            </a:p>
          </p:txBody>
        </p:sp>
      </p:grpSp>
      <p:sp>
        <p:nvSpPr>
          <p:cNvPr id="100" name="TextBox 40">
            <a:extLst>
              <a:ext uri="{FF2B5EF4-FFF2-40B4-BE49-F238E27FC236}">
                <a16:creationId xmlns:a16="http://schemas.microsoft.com/office/drawing/2014/main" id="{FE2C446B-FB3E-E967-5995-271BE10C4407}"/>
              </a:ext>
            </a:extLst>
          </p:cNvPr>
          <p:cNvSpPr txBox="1"/>
          <p:nvPr/>
        </p:nvSpPr>
        <p:spPr>
          <a:xfrm>
            <a:off x="28259455" y="27307019"/>
            <a:ext cx="14827755" cy="4173361"/>
          </a:xfrm>
          <a:prstGeom prst="rect">
            <a:avLst/>
          </a:prstGeom>
        </p:spPr>
        <p:txBody>
          <a:bodyPr lIns="57150" tIns="57150" rIns="57150" bIns="57150" rtlCol="0" anchor="t"/>
          <a:lstStyle/>
          <a:p>
            <a:pPr marL="685800" indent="-685800" algn="just">
              <a:buFont typeface="Arial" panose="020B0604020202020204" pitchFamily="34" charset="0"/>
              <a:buChar char="•"/>
            </a:pPr>
            <a:r>
              <a:rPr lang="en-US" sz="4500" dirty="0"/>
              <a:t>There is a statistically significant difference in how the terms are distributed across categories between Reddit and CDC Guidelines. </a:t>
            </a:r>
          </a:p>
          <a:p>
            <a:pPr marL="685800" indent="-685800" algn="just">
              <a:buFont typeface="Arial" panose="020B0604020202020204" pitchFamily="34" charset="0"/>
              <a:buChar char="•"/>
            </a:pPr>
            <a:r>
              <a:rPr lang="en-US" sz="4500" dirty="0"/>
              <a:t>Next, we will qualitatively assess data to identify consistencies and discrepancies between the language laypeople use when discussing PrEP and the information they seek versus the information provided in the guidelines.</a:t>
            </a:r>
          </a:p>
          <a:p>
            <a:pPr marL="685800" indent="-685800" algn="just">
              <a:buFont typeface="Arial" panose="020B0604020202020204" pitchFamily="34" charset="0"/>
              <a:buChar char="•"/>
            </a:pPr>
            <a:endParaRPr lang="en-US" sz="4500" dirty="0"/>
          </a:p>
          <a:p>
            <a:pPr marL="685800" indent="-685800" algn="just">
              <a:buFont typeface="Arial" panose="020B0604020202020204" pitchFamily="34" charset="0"/>
              <a:buChar char="•"/>
            </a:pPr>
            <a:endParaRPr lang="en-US" sz="4500" dirty="0"/>
          </a:p>
        </p:txBody>
      </p:sp>
      <p:pic>
        <p:nvPicPr>
          <p:cNvPr id="103" name="Picture 102" descr="A graph with numbers and text&#10;&#10;AI-generated content may be incorrect.">
            <a:extLst>
              <a:ext uri="{FF2B5EF4-FFF2-40B4-BE49-F238E27FC236}">
                <a16:creationId xmlns:a16="http://schemas.microsoft.com/office/drawing/2014/main" id="{A99D9A1D-DBE4-E99F-0242-E5C759BAC6A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867615" y="18382208"/>
            <a:ext cx="12713333" cy="66079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1782</TotalTime>
  <Words>837</Words>
  <Application>Microsoft Macintosh PowerPoint</Application>
  <PresentationFormat>Custom</PresentationFormat>
  <Paragraphs>25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(MS) Bold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URP Poster Template</dc:title>
  <cp:lastModifiedBy>Carlson, Madelyn</cp:lastModifiedBy>
  <cp:revision>11</cp:revision>
  <dcterms:created xsi:type="dcterms:W3CDTF">2006-08-16T00:00:00Z</dcterms:created>
  <dcterms:modified xsi:type="dcterms:W3CDTF">2025-12-12T20:55:48Z</dcterms:modified>
  <dc:identifier>DAGA6orcGMY</dc:identifier>
</cp:coreProperties>
</file>